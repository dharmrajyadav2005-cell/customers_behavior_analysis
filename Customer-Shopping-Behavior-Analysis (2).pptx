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3,900 transactions · 18 features · Strategic insights from Python, SQL &amp;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246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28899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46447" y="20738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46053" y="142889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3196456" y="20738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21048" y="2649662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37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1971452" y="32946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21048" y="3601120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398740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Demographics · Purchase details · Shopping behavior · Subscription status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6508"/>
            <a:ext cx="433863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Preparation in Python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35137"/>
            <a:ext cx="5204073" cy="294895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5077" y="1089720"/>
            <a:ext cx="2677492" cy="6767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57243" y="121473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Load &amp; Explore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157243" y="1474217"/>
            <a:ext cx="2370311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Imported via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;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&amp;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5077" y="1852985"/>
            <a:ext cx="2677492" cy="8250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57243" y="197800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Clean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157243" y="2237482"/>
            <a:ext cx="237031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Imputed missing Review Ratings by category median; snake_case columns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5077" y="2764482"/>
            <a:ext cx="2677492" cy="10113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57243" y="288949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Engineer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157243" y="3148980"/>
            <a:ext cx="2370311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&amp;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; dropped redundant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5077" y="3862313"/>
            <a:ext cx="2677492" cy="6672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57243" y="398732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Integrate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6157243" y="4246811"/>
            <a:ext cx="237031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Loaded cleaned DataFrame into PostgreSQL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than female customers across 3,900 transactions.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552748"/>
          </a:xfrm>
          <a:prstGeom prst="roundRect">
            <a:avLst>
              <a:gd name="adj" fmla="val 23083"/>
            </a:avLst>
          </a:prstGeom>
          <a:solidFill>
            <a:srgbClr val="DDEE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5896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Male: $157,890 · Female: $75,191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Product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7169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36787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Most Discount-Dependent Products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676474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129"/>
            <a:ext cx="5594598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Subscription &amp; Shipping Behavior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31751"/>
            <a:ext cx="3929955" cy="2828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688" y="1019175"/>
            <a:ext cx="291695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Subscribers vs. Non-Subscribers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22688" y="1306934"/>
            <a:ext cx="392995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Non-subscribers drive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73%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of revenue despite near-identical avg spend (~$59).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6119" y="4087490"/>
            <a:ext cx="4025429" cy="662880"/>
          </a:xfrm>
          <a:prstGeom prst="roundRect">
            <a:avLst>
              <a:gd name="adj" fmla="val 16240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615702" y="420707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Standard Shipping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5702" y="4454426"/>
            <a:ext cx="378626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Avg $58.46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2453" y="4087490"/>
            <a:ext cx="4025429" cy="662880"/>
          </a:xfrm>
          <a:prstGeom prst="roundRect">
            <a:avLst>
              <a:gd name="adj" fmla="val 16240"/>
            </a:avLst>
          </a:prstGeom>
          <a:solidFill>
            <a:srgbClr val="E8F3E8"/>
          </a:solidFill>
          <a:ln/>
        </p:spPr>
      </p:sp>
      <p:sp>
        <p:nvSpPr>
          <p:cNvPr id="10" name="Text 7"/>
          <p:cNvSpPr/>
          <p:nvPr/>
        </p:nvSpPr>
        <p:spPr>
          <a:xfrm>
            <a:off x="4742036" y="420707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Express Shipping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42036" y="4454426"/>
            <a:ext cx="378626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Avg $60.48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1717"/>
            <a:ext cx="48136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36774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19064"/>
            <a:ext cx="2320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68227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Based on purchase history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Loyal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customers dominate at 80% of the base.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295376"/>
            <a:ext cx="1880592" cy="543074"/>
          </a:xfrm>
          <a:prstGeom prst="roundRect">
            <a:avLst>
              <a:gd name="adj" fmla="val 23494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10510" y="2456185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Loyal — 3,116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772052" y="2295376"/>
            <a:ext cx="1880592" cy="543074"/>
          </a:xfrm>
          <a:prstGeom prst="roundRect">
            <a:avLst>
              <a:gd name="adj" fmla="val 23494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32861" y="2456185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Returning — 701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749701" y="2980209"/>
            <a:ext cx="3902943" cy="543074"/>
          </a:xfrm>
          <a:prstGeom prst="roundRect">
            <a:avLst>
              <a:gd name="adj" fmla="val 23494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10510" y="31410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New — 83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49701" y="3682752"/>
            <a:ext cx="3902943" cy="779562"/>
          </a:xfrm>
          <a:prstGeom prst="roundRect">
            <a:avLst>
              <a:gd name="adj" fmla="val 16367"/>
            </a:avLst>
          </a:prstGeom>
          <a:solidFill>
            <a:srgbClr val="DDEEE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888284"/>
            <a:ext cx="177180" cy="1417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0398" y="3845719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958 repeat buyers (&gt;5 purchases) are subscribed vs. 2,518 non-subscribers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4291385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Revenue by Age Group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50218"/>
            <a:ext cx="3911054" cy="281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590" y="1134070"/>
            <a:ext cx="220719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Age-Driven Revenue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41590" y="1473919"/>
            <a:ext cx="391105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Young Adults lead revenue, but all groups contribute relatively evenly — broad targeting opportunity.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4236095"/>
            <a:ext cx="1936254" cy="5375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280" y="425514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Young Adult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69280" y="4543499"/>
            <a:ext cx="17440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$62,143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5230" y="4236095"/>
            <a:ext cx="1936254" cy="5375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47442" y="425514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Middle-aged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2747442" y="4543499"/>
            <a:ext cx="17440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$59,197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3392" y="4236095"/>
            <a:ext cx="1936254" cy="5375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25603" y="425514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Adult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825603" y="4543499"/>
            <a:ext cx="17440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$55,978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1553" y="4236095"/>
            <a:ext cx="1936328" cy="5375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03765" y="425514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Senior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903765" y="4543499"/>
            <a:ext cx="174411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$55,763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2357"/>
            <a:ext cx="3947964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925119" y="1004515"/>
            <a:ext cx="4722763" cy="754187"/>
          </a:xfrm>
          <a:prstGeom prst="roundRect">
            <a:avLst>
              <a:gd name="adj" fmla="val 15860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4058022" y="113741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3.9K Customers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58022" y="1419820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transactions tracked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25119" y="1883271"/>
            <a:ext cx="4722763" cy="754187"/>
          </a:xfrm>
          <a:prstGeom prst="roundRect">
            <a:avLst>
              <a:gd name="adj" fmla="val 1586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4058022" y="2016175"/>
            <a:ext cx="175460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$59.76 Avg Purchase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58022" y="2298576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 spend per order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2762027"/>
            <a:ext cx="4722763" cy="754187"/>
          </a:xfrm>
          <a:prstGeom prst="roundRect">
            <a:avLst>
              <a:gd name="adj" fmla="val 15860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4058022" y="289493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3.75 Avg Rating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58022" y="3177332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review score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640782"/>
            <a:ext cx="4722763" cy="754187"/>
          </a:xfrm>
          <a:prstGeom prst="roundRect">
            <a:avLst>
              <a:gd name="adj" fmla="val 15860"/>
            </a:avLst>
          </a:prstGeom>
          <a:solidFill>
            <a:srgbClr val="E8F3E8"/>
          </a:solidFill>
          <a:ln/>
        </p:spPr>
      </p:sp>
      <p:sp>
        <p:nvSpPr>
          <p:cNvPr id="14" name="Text 11"/>
          <p:cNvSpPr/>
          <p:nvPr/>
        </p:nvSpPr>
        <p:spPr>
          <a:xfrm>
            <a:off x="4058022" y="377368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27% Subscribers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58022" y="4056087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Subscription penetration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925119" y="4535091"/>
            <a:ext cx="5179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Filters: Subscription · Gender · Category · Shipping Type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7895"/>
            <a:ext cx="55212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84400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033067"/>
            <a:ext cx="18118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339578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984400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339578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repeat buyers → Loyal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984400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2033067"/>
            <a:ext cx="21050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339578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125391"/>
            <a:ext cx="17899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431902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high-revenue age groups &amp; express shippers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125391"/>
            <a:ext cx="18149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431902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Highlight top-rated &amp; best-selling products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2026-07-03T18:47:37Z</dcterms:created>
  <dcterms:modified xsi:type="dcterms:W3CDTF">2026-07-03T18:47:37Z</dcterms:modified>
</cp:coreProperties>
</file>